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8a148ae4-4c55-b307-279a-993db2fcc077}">
          <p14:sldIdLst>
            <p14:sldId id="256"/>
            <p14:sldId id="257"/>
            <p14:sldId id="258"/>
          </p14:sldIdLst>
        </p14:section>
        <p14:section name="Experience" id="{5c001567-ffb9-0bab-cd2a-91f76bae5ca2}">
          <p14:sldIdLst>
            <p14:sldId id="259"/>
            <p14:sldId id="260"/>
            <p14:sldId id="261"/>
          </p14:sldIdLst>
        </p14:section>
        <p14:section name="Next steps" id="{6fa7ab56-41d5-4b9e-89ae-c68f5f5b3ecf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C0F0D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C0F0D"/>
                </a:solidFill>
                <a:latin typeface="+mn-lt"/>
              </a:rPr>
              <a:t>KPI weights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E0080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C0F0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Collection</c:v>
                  </c:pt>
                  <c:pt idx="1">
                    <c:v>Absenteeism</c:v>
                  </c:pt>
                  <c:pt idx="2">
                    <c:v>Quality</c:v>
                  </c:pt>
                  <c:pt idx="3">
                    <c:v>Positive connect</c:v>
                  </c:pt>
                  <c:pt idx="4">
                    <c:v>Conformance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25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C0F0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C0F0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Etisalat CX Solutions  ·  Employee Portal prototype  ·  Demo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Etisalat CX Solutions  ·  Employee Portal prototype  ·  Demo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MANAGERS BRIEFING</a:t>
            </a:r>
            <a:endParaRPr lang="en-US" sz="1400" dirty="0"/>
          </a:p>
        </p:txBody>
      </p:sp>
      <p:sp>
        <p:nvSpPr>
          <p:cNvPr id="3" name="Cover title"/>
          <p:cNvSpPr txBox="1"/>
          <p:nvPr/>
        </p:nvSpPr>
        <p:spPr>
          <a:xfrm>
            <a:off x="731520" y="201168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Etisalat CX Solutions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Portal</a:t>
            </a:r>
            <a:endParaRPr lang="en-US" sz="4600" dirty="0"/>
          </a:p>
        </p:txBody>
      </p:sp>
      <p:sp>
        <p:nvSpPr>
          <p:cNvPr id="4" name="Cover subtitle"/>
          <p:cNvSpPr txBox="1"/>
          <p:nvPr/>
        </p:nvSpPr>
        <p:spPr>
          <a:xfrm>
            <a:off x="731520" y="42062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 for every employee and manager, opened straight into their own position.</a:t>
            </a:r>
            <a:endParaRPr lang="en-US" sz="2000" dirty="0"/>
          </a:p>
        </p:txBody>
      </p:sp>
      <p:sp>
        <p:nvSpPr>
          <p:cNvPr id="5" name="Cover note"/>
          <p:cNvSpPr txBox="1"/>
          <p:nvPr/>
        </p:nvSpPr>
        <p:spPr>
          <a:xfrm>
            <a:off x="73152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with demo data  ·  October 2026</a:t>
            </a:r>
            <a:endParaRPr lang="en-US" sz="1200" dirty="0"/>
          </a:p>
        </p:txBody>
      </p:sp>
      <p:sp>
        <p:nvSpPr>
          <p:cNvPr id="6" name="Logo tile"/>
          <p:cNvSpPr/>
          <p:nvPr/>
        </p:nvSpPr>
        <p:spPr>
          <a:xfrm>
            <a:off x="7863840" y="1463040"/>
            <a:ext cx="3749040" cy="3749040"/>
          </a:xfrm>
          <a:prstGeom prst="roundRect">
            <a:avLst>
              <a:gd name="adj" fmla="val 853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Etisalat CX Solutions logo" descr="Etisalat CX Solution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2148840"/>
            <a:ext cx="292608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scattered tools to one place</a:t>
            </a:r>
            <a:endParaRPr lang="en-US" sz="3600" dirty="0"/>
          </a:p>
        </p:txBody>
      </p:sp>
      <p:sp>
        <p:nvSpPr>
          <p:cNvPr id="3" name="Card Requests"/>
          <p:cNvSpPr/>
          <p:nvPr/>
        </p:nvSpPr>
        <p:spPr>
          <a:xfrm>
            <a:off x="548640" y="1554480"/>
            <a:ext cx="3566160" cy="310896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Requests circle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equests icon" descr="Reques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365760" cy="365760"/>
          </a:xfrm>
          <a:prstGeom prst="rect">
            <a:avLst/>
          </a:prstGeom>
        </p:spPr>
      </p:pic>
      <p:sp>
        <p:nvSpPr>
          <p:cNvPr id="6" name="Heading Requests"/>
          <p:cNvSpPr txBox="1"/>
          <p:nvPr/>
        </p:nvSpPr>
        <p:spPr>
          <a:xfrm>
            <a:off x="86868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</a:t>
            </a:r>
            <a:endParaRPr lang="en-US" sz="2200" dirty="0"/>
          </a:p>
        </p:txBody>
      </p:sp>
      <p:sp>
        <p:nvSpPr>
          <p:cNvPr id="7" name="Text Requests"/>
          <p:cNvSpPr txBox="1"/>
          <p:nvPr/>
        </p:nvSpPr>
        <p:spPr>
          <a:xfrm>
            <a:off x="868680" y="32461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letters, IT tickets and inquiries sit in separate forms and tools.</a:t>
            </a:r>
            <a:endParaRPr lang="en-US" sz="1600" dirty="0"/>
          </a:p>
        </p:txBody>
      </p:sp>
      <p:sp>
        <p:nvSpPr>
          <p:cNvPr id="8" name="Card Performance and pay"/>
          <p:cNvSpPr/>
          <p:nvPr/>
        </p:nvSpPr>
        <p:spPr>
          <a:xfrm>
            <a:off x="4297680" y="1554480"/>
            <a:ext cx="3566160" cy="310896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Performance and pay circle"/>
          <p:cNvSpPr/>
          <p:nvPr/>
        </p:nvSpPr>
        <p:spPr>
          <a:xfrm>
            <a:off x="461772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erformance and pay icon" descr="Performance and p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11680"/>
            <a:ext cx="365760" cy="365760"/>
          </a:xfrm>
          <a:prstGeom prst="rect">
            <a:avLst/>
          </a:prstGeom>
        </p:spPr>
      </p:pic>
      <p:sp>
        <p:nvSpPr>
          <p:cNvPr id="11" name="Heading Performance and pay"/>
          <p:cNvSpPr txBox="1"/>
          <p:nvPr/>
        </p:nvSpPr>
        <p:spPr>
          <a:xfrm>
            <a:off x="461772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and pay</a:t>
            </a:r>
            <a:endParaRPr lang="en-US" sz="2200" dirty="0"/>
          </a:p>
        </p:txBody>
      </p:sp>
      <p:sp>
        <p:nvSpPr>
          <p:cNvPr id="12" name="Text Performance and pay"/>
          <p:cNvSpPr txBox="1"/>
          <p:nvPr/>
        </p:nvSpPr>
        <p:spPr>
          <a:xfrm>
            <a:off x="4617720" y="32461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scorecards live in spreadsheets and payslips arrive as PDFs.</a:t>
            </a:r>
            <a:endParaRPr lang="en-US" sz="1600" dirty="0"/>
          </a:p>
        </p:txBody>
      </p:sp>
      <p:sp>
        <p:nvSpPr>
          <p:cNvPr id="13" name="Card Information"/>
          <p:cNvSpPr/>
          <p:nvPr/>
        </p:nvSpPr>
        <p:spPr>
          <a:xfrm>
            <a:off x="8046720" y="1554480"/>
            <a:ext cx="3566160" cy="310896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nformation circle"/>
          <p:cNvSpPr/>
          <p:nvPr/>
        </p:nvSpPr>
        <p:spPr>
          <a:xfrm>
            <a:off x="836676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nformation icon" descr="Infor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011680"/>
            <a:ext cx="365760" cy="365760"/>
          </a:xfrm>
          <a:prstGeom prst="rect">
            <a:avLst/>
          </a:prstGeom>
        </p:spPr>
      </p:pic>
      <p:sp>
        <p:nvSpPr>
          <p:cNvPr id="16" name="Heading Information"/>
          <p:cNvSpPr txBox="1"/>
          <p:nvPr/>
        </p:nvSpPr>
        <p:spPr>
          <a:xfrm>
            <a:off x="836676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2200" dirty="0"/>
          </a:p>
        </p:txBody>
      </p:sp>
      <p:sp>
        <p:nvSpPr>
          <p:cNvPr id="17" name="Text Information"/>
          <p:cNvSpPr txBox="1"/>
          <p:nvPr/>
        </p:nvSpPr>
        <p:spPr>
          <a:xfrm>
            <a:off x="8366760" y="32461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News, events and policies live on the intranet, away from daily tasks.</a:t>
            </a:r>
            <a:endParaRPr lang="en-US" sz="1600" dirty="0"/>
          </a:p>
        </p:txBody>
      </p:sp>
      <p:sp>
        <p:nvSpPr>
          <p:cNvPr id="18" name="Goal band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Goal text"/>
          <p:cNvSpPr txBox="1"/>
          <p:nvPr/>
        </p:nvSpPr>
        <p:spPr>
          <a:xfrm>
            <a:off x="868680" y="50292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each person sees what they need, when they need it, in one app.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Seven roles, one app, opened by position</a:t>
            </a:r>
            <a:endParaRPr lang="en-US" sz="3600" dirty="0"/>
          </a:p>
        </p:txBody>
      </p:sp>
      <p:sp>
        <p:nvSpPr>
          <p:cNvPr id="3" name="Card Employee"/>
          <p:cNvSpPr/>
          <p:nvPr/>
        </p:nvSpPr>
        <p:spPr>
          <a:xfrm>
            <a:off x="548640" y="1463040"/>
            <a:ext cx="2624328" cy="2057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Employee circle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Employee icon" descr="Employ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833372"/>
            <a:ext cx="283464" cy="283464"/>
          </a:xfrm>
          <a:prstGeom prst="rect">
            <a:avLst/>
          </a:prstGeom>
        </p:spPr>
      </p:pic>
      <p:sp>
        <p:nvSpPr>
          <p:cNvPr id="6" name="Role Employee"/>
          <p:cNvSpPr txBox="1"/>
          <p:nvPr/>
        </p:nvSpPr>
        <p:spPr>
          <a:xfrm>
            <a:off x="7772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700" dirty="0"/>
          </a:p>
        </p:txBody>
      </p:sp>
      <p:sp>
        <p:nvSpPr>
          <p:cNvPr id="7" name="Role text Employee"/>
          <p:cNvSpPr txBox="1"/>
          <p:nvPr/>
        </p:nvSpPr>
        <p:spPr>
          <a:xfrm>
            <a:off x="777240" y="27614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leave, HR letters, live KPI, pay</a:t>
            </a:r>
            <a:endParaRPr lang="en-US" sz="1400" dirty="0"/>
          </a:p>
        </p:txBody>
      </p:sp>
      <p:sp>
        <p:nvSpPr>
          <p:cNvPr id="8" name="Card Team Leader"/>
          <p:cNvSpPr/>
          <p:nvPr/>
        </p:nvSpPr>
        <p:spPr>
          <a:xfrm>
            <a:off x="3355848" y="1463040"/>
            <a:ext cx="2624328" cy="2057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am Leader circle"/>
          <p:cNvSpPr/>
          <p:nvPr/>
        </p:nvSpPr>
        <p:spPr>
          <a:xfrm>
            <a:off x="3584448" y="1691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Team Leader icon" descr="Team Lea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833372"/>
            <a:ext cx="283464" cy="283464"/>
          </a:xfrm>
          <a:prstGeom prst="rect">
            <a:avLst/>
          </a:prstGeom>
        </p:spPr>
      </p:pic>
      <p:sp>
        <p:nvSpPr>
          <p:cNvPr id="11" name="Role Team Leader"/>
          <p:cNvSpPr txBox="1"/>
          <p:nvPr/>
        </p:nvSpPr>
        <p:spPr>
          <a:xfrm>
            <a:off x="3584448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1700" dirty="0"/>
          </a:p>
        </p:txBody>
      </p:sp>
      <p:sp>
        <p:nvSpPr>
          <p:cNvPr id="12" name="Role text Team Leader"/>
          <p:cNvSpPr txBox="1"/>
          <p:nvPr/>
        </p:nvSpPr>
        <p:spPr>
          <a:xfrm>
            <a:off x="3584448" y="27614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status, approvals, team KPIs</a:t>
            </a:r>
            <a:endParaRPr lang="en-US" sz="1400" dirty="0"/>
          </a:p>
        </p:txBody>
      </p:sp>
      <p:sp>
        <p:nvSpPr>
          <p:cNvPr id="13" name="Card Operations Manager"/>
          <p:cNvSpPr/>
          <p:nvPr/>
        </p:nvSpPr>
        <p:spPr>
          <a:xfrm>
            <a:off x="6163056" y="1463040"/>
            <a:ext cx="2624328" cy="2057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Operations Manager circle"/>
          <p:cNvSpPr/>
          <p:nvPr/>
        </p:nvSpPr>
        <p:spPr>
          <a:xfrm>
            <a:off x="6391656" y="1691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Operations Manager icon" descr="Operations Manag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1833372"/>
            <a:ext cx="283464" cy="283464"/>
          </a:xfrm>
          <a:prstGeom prst="rect">
            <a:avLst/>
          </a:prstGeom>
        </p:spPr>
      </p:pic>
      <p:sp>
        <p:nvSpPr>
          <p:cNvPr id="16" name="Role Operations Manager"/>
          <p:cNvSpPr txBox="1"/>
          <p:nvPr/>
        </p:nvSpPr>
        <p:spPr>
          <a:xfrm>
            <a:off x="6391656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Manager</a:t>
            </a:r>
            <a:endParaRPr lang="en-US" sz="1700" dirty="0"/>
          </a:p>
        </p:txBody>
      </p:sp>
      <p:sp>
        <p:nvSpPr>
          <p:cNvPr id="17" name="Role text Operations Manager"/>
          <p:cNvSpPr txBox="1"/>
          <p:nvPr/>
        </p:nvSpPr>
        <p:spPr>
          <a:xfrm>
            <a:off x="6391656" y="27614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operations, team pace, escalations</a:t>
            </a:r>
            <a:endParaRPr lang="en-US" sz="1400" dirty="0"/>
          </a:p>
        </p:txBody>
      </p:sp>
      <p:sp>
        <p:nvSpPr>
          <p:cNvPr id="18" name="Card Senior Manager"/>
          <p:cNvSpPr/>
          <p:nvPr/>
        </p:nvSpPr>
        <p:spPr>
          <a:xfrm>
            <a:off x="8970264" y="1463040"/>
            <a:ext cx="2624328" cy="2057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enior Manager circle"/>
          <p:cNvSpPr/>
          <p:nvPr/>
        </p:nvSpPr>
        <p:spPr>
          <a:xfrm>
            <a:off x="9198864" y="1691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enior Manager icon" descr="Senior Manag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596" y="1833372"/>
            <a:ext cx="283464" cy="283464"/>
          </a:xfrm>
          <a:prstGeom prst="rect">
            <a:avLst/>
          </a:prstGeom>
        </p:spPr>
      </p:pic>
      <p:sp>
        <p:nvSpPr>
          <p:cNvPr id="21" name="Role Senior Manager"/>
          <p:cNvSpPr txBox="1"/>
          <p:nvPr/>
        </p:nvSpPr>
        <p:spPr>
          <a:xfrm>
            <a:off x="9198864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Manager</a:t>
            </a:r>
            <a:endParaRPr lang="en-US" sz="1700" dirty="0"/>
          </a:p>
        </p:txBody>
      </p:sp>
      <p:sp>
        <p:nvSpPr>
          <p:cNvPr id="22" name="Role text Senior Manager"/>
          <p:cNvSpPr txBox="1"/>
          <p:nvPr/>
        </p:nvSpPr>
        <p:spPr>
          <a:xfrm>
            <a:off x="9198864" y="27614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view, forecast, budget approvals</a:t>
            </a:r>
            <a:endParaRPr lang="en-US" sz="1400" dirty="0"/>
          </a:p>
        </p:txBody>
      </p:sp>
      <p:sp>
        <p:nvSpPr>
          <p:cNvPr id="23" name="Card Account Manager"/>
          <p:cNvSpPr/>
          <p:nvPr/>
        </p:nvSpPr>
        <p:spPr>
          <a:xfrm>
            <a:off x="548640" y="3703320"/>
            <a:ext cx="2624328" cy="2057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Account Manager circle"/>
          <p:cNvSpPr/>
          <p:nvPr/>
        </p:nvSpPr>
        <p:spPr>
          <a:xfrm>
            <a:off x="777240" y="3931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Account Manager icon" descr="Account Manag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4073652"/>
            <a:ext cx="283464" cy="283464"/>
          </a:xfrm>
          <a:prstGeom prst="rect">
            <a:avLst/>
          </a:prstGeom>
        </p:spPr>
      </p:pic>
      <p:sp>
        <p:nvSpPr>
          <p:cNvPr id="26" name="Role Account Manager"/>
          <p:cNvSpPr txBox="1"/>
          <p:nvPr/>
        </p:nvSpPr>
        <p:spPr>
          <a:xfrm>
            <a:off x="77724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Manager</a:t>
            </a:r>
            <a:endParaRPr lang="en-US" sz="1700" dirty="0"/>
          </a:p>
        </p:txBody>
      </p:sp>
      <p:sp>
        <p:nvSpPr>
          <p:cNvPr id="27" name="Role text Account Manager"/>
          <p:cNvSpPr txBox="1"/>
          <p:nvPr/>
        </p:nvSpPr>
        <p:spPr>
          <a:xfrm>
            <a:off x="777240" y="50017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accounts, SLA, client requests</a:t>
            </a:r>
            <a:endParaRPr lang="en-US" sz="1400" dirty="0"/>
          </a:p>
        </p:txBody>
      </p:sp>
      <p:sp>
        <p:nvSpPr>
          <p:cNvPr id="28" name="Card HR"/>
          <p:cNvSpPr/>
          <p:nvPr/>
        </p:nvSpPr>
        <p:spPr>
          <a:xfrm>
            <a:off x="3355848" y="3703320"/>
            <a:ext cx="2624328" cy="2057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HR circle"/>
          <p:cNvSpPr/>
          <p:nvPr/>
        </p:nvSpPr>
        <p:spPr>
          <a:xfrm>
            <a:off x="3584448" y="3931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HR icon" descr="H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6180" y="4073652"/>
            <a:ext cx="283464" cy="283464"/>
          </a:xfrm>
          <a:prstGeom prst="rect">
            <a:avLst/>
          </a:prstGeom>
        </p:spPr>
      </p:pic>
      <p:sp>
        <p:nvSpPr>
          <p:cNvPr id="31" name="Role HR"/>
          <p:cNvSpPr txBox="1"/>
          <p:nvPr/>
        </p:nvSpPr>
        <p:spPr>
          <a:xfrm>
            <a:off x="3584448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700" dirty="0"/>
          </a:p>
        </p:txBody>
      </p:sp>
      <p:sp>
        <p:nvSpPr>
          <p:cNvPr id="32" name="Role text HR"/>
          <p:cNvSpPr txBox="1"/>
          <p:nvPr/>
        </p:nvSpPr>
        <p:spPr>
          <a:xfrm>
            <a:off x="3584448" y="50017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 requests, balances, people dashboard</a:t>
            </a:r>
            <a:endParaRPr lang="en-US" sz="1400" dirty="0"/>
          </a:p>
        </p:txBody>
      </p:sp>
      <p:sp>
        <p:nvSpPr>
          <p:cNvPr id="33" name="Card IT"/>
          <p:cNvSpPr/>
          <p:nvPr/>
        </p:nvSpPr>
        <p:spPr>
          <a:xfrm>
            <a:off x="6163056" y="3703320"/>
            <a:ext cx="2624328" cy="2057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IT circle"/>
          <p:cNvSpPr/>
          <p:nvPr/>
        </p:nvSpPr>
        <p:spPr>
          <a:xfrm>
            <a:off x="6391656" y="3931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T icon" descr="I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388" y="4073652"/>
            <a:ext cx="283464" cy="283464"/>
          </a:xfrm>
          <a:prstGeom prst="rect">
            <a:avLst/>
          </a:prstGeom>
        </p:spPr>
      </p:pic>
      <p:sp>
        <p:nvSpPr>
          <p:cNvPr id="36" name="Role IT"/>
          <p:cNvSpPr txBox="1"/>
          <p:nvPr/>
        </p:nvSpPr>
        <p:spPr>
          <a:xfrm>
            <a:off x="6391656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1700" dirty="0"/>
          </a:p>
        </p:txBody>
      </p:sp>
      <p:sp>
        <p:nvSpPr>
          <p:cNvPr id="37" name="Role text IT"/>
          <p:cNvSpPr txBox="1"/>
          <p:nvPr/>
        </p:nvSpPr>
        <p:spPr>
          <a:xfrm>
            <a:off x="6391656" y="50017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Tickets, equipment, access requests</a:t>
            </a:r>
            <a:endParaRPr lang="en-US" sz="1400" dirty="0"/>
          </a:p>
        </p:txBody>
      </p:sp>
      <p:sp>
        <p:nvSpPr>
          <p:cNvPr id="38" name="Card Admin"/>
          <p:cNvSpPr/>
          <p:nvPr/>
        </p:nvSpPr>
        <p:spPr>
          <a:xfrm>
            <a:off x="8970264" y="3703320"/>
            <a:ext cx="2624328" cy="2057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Admin circle"/>
          <p:cNvSpPr/>
          <p:nvPr/>
        </p:nvSpPr>
        <p:spPr>
          <a:xfrm>
            <a:off x="9198864" y="393192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0" name="Admin icon" descr="Admi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0596" y="4073652"/>
            <a:ext cx="283464" cy="283464"/>
          </a:xfrm>
          <a:prstGeom prst="rect">
            <a:avLst/>
          </a:prstGeom>
        </p:spPr>
      </p:pic>
      <p:sp>
        <p:nvSpPr>
          <p:cNvPr id="41" name="Role Admin"/>
          <p:cNvSpPr txBox="1"/>
          <p:nvPr/>
        </p:nvSpPr>
        <p:spPr>
          <a:xfrm>
            <a:off x="9198864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700" dirty="0"/>
          </a:p>
        </p:txBody>
      </p:sp>
      <p:sp>
        <p:nvSpPr>
          <p:cNvPr id="42" name="Role text Admin"/>
          <p:cNvSpPr txBox="1"/>
          <p:nvPr/>
        </p:nvSpPr>
        <p:spPr>
          <a:xfrm>
            <a:off x="9198864" y="50017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Assigns each person a position</a:t>
            </a:r>
            <a:endParaRPr lang="en-US" sz="1400" dirty="0"/>
          </a:p>
        </p:txBody>
      </p:sp>
      <p:sp>
        <p:nvSpPr>
          <p:cNvPr id="43" name="Roles not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person lands directly on their own role. Anyone without an assigned position sees no access.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every employee gets</a:t>
            </a:r>
            <a:endParaRPr lang="en-US" sz="3600" dirty="0"/>
          </a:p>
        </p:txBody>
      </p:sp>
      <p:sp>
        <p:nvSpPr>
          <p:cNvPr id="3" name="Card Home"/>
          <p:cNvSpPr/>
          <p:nvPr/>
        </p:nvSpPr>
        <p:spPr>
          <a:xfrm>
            <a:off x="548640" y="1554480"/>
            <a:ext cx="2103120" cy="32918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Home circle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Home icon" descr="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88820"/>
            <a:ext cx="320040" cy="320040"/>
          </a:xfrm>
          <a:prstGeom prst="rect">
            <a:avLst/>
          </a:prstGeom>
        </p:spPr>
      </p:pic>
      <p:sp>
        <p:nvSpPr>
          <p:cNvPr id="6" name="Tab Home"/>
          <p:cNvSpPr txBox="1"/>
          <p:nvPr/>
        </p:nvSpPr>
        <p:spPr>
          <a:xfrm>
            <a:off x="82296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2000" dirty="0"/>
          </a:p>
        </p:txBody>
      </p:sp>
      <p:sp>
        <p:nvSpPr>
          <p:cNvPr id="7" name="Tab text Home"/>
          <p:cNvSpPr txBox="1"/>
          <p:nvPr/>
        </p:nvSpPr>
        <p:spPr>
          <a:xfrm>
            <a:off x="822960" y="32004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and out, leave left, KPI and commission for the month, news.</a:t>
            </a:r>
            <a:endParaRPr lang="en-US" sz="1400" dirty="0"/>
          </a:p>
        </p:txBody>
      </p:sp>
      <p:sp>
        <p:nvSpPr>
          <p:cNvPr id="8" name="Card Services"/>
          <p:cNvSpPr/>
          <p:nvPr/>
        </p:nvSpPr>
        <p:spPr>
          <a:xfrm>
            <a:off x="2798064" y="1554480"/>
            <a:ext cx="2103120" cy="32918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ervices circle"/>
          <p:cNvSpPr/>
          <p:nvPr/>
        </p:nvSpPr>
        <p:spPr>
          <a:xfrm>
            <a:off x="3072384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ervices icon" descr="Servic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404" y="1988820"/>
            <a:ext cx="320040" cy="320040"/>
          </a:xfrm>
          <a:prstGeom prst="rect">
            <a:avLst/>
          </a:prstGeom>
        </p:spPr>
      </p:pic>
      <p:sp>
        <p:nvSpPr>
          <p:cNvPr id="11" name="Tab Services"/>
          <p:cNvSpPr txBox="1"/>
          <p:nvPr/>
        </p:nvSpPr>
        <p:spPr>
          <a:xfrm>
            <a:off x="3072384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2000" dirty="0"/>
          </a:p>
        </p:txBody>
      </p:sp>
      <p:sp>
        <p:nvSpPr>
          <p:cNvPr id="12" name="Tab text Services"/>
          <p:cNvSpPr txBox="1"/>
          <p:nvPr/>
        </p:nvSpPr>
        <p:spPr>
          <a:xfrm>
            <a:off x="3072384" y="32004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Leave, HR letters, IT help, attendance and inquiries in one place.</a:t>
            </a:r>
            <a:endParaRPr lang="en-US" sz="1400" dirty="0"/>
          </a:p>
        </p:txBody>
      </p:sp>
      <p:sp>
        <p:nvSpPr>
          <p:cNvPr id="13" name="Card Pay"/>
          <p:cNvSpPr/>
          <p:nvPr/>
        </p:nvSpPr>
        <p:spPr>
          <a:xfrm>
            <a:off x="5047488" y="1554480"/>
            <a:ext cx="2103120" cy="32918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Pay circle"/>
          <p:cNvSpPr/>
          <p:nvPr/>
        </p:nvSpPr>
        <p:spPr>
          <a:xfrm>
            <a:off x="5321808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Pay icon" descr="P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828" y="1988820"/>
            <a:ext cx="320040" cy="320040"/>
          </a:xfrm>
          <a:prstGeom prst="rect">
            <a:avLst/>
          </a:prstGeom>
        </p:spPr>
      </p:pic>
      <p:sp>
        <p:nvSpPr>
          <p:cNvPr id="16" name="Tab Pay"/>
          <p:cNvSpPr txBox="1"/>
          <p:nvPr/>
        </p:nvSpPr>
        <p:spPr>
          <a:xfrm>
            <a:off x="5321808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2000" dirty="0"/>
          </a:p>
        </p:txBody>
      </p:sp>
      <p:sp>
        <p:nvSpPr>
          <p:cNvPr id="17" name="Tab text Pay"/>
          <p:cNvSpPr txBox="1"/>
          <p:nvPr/>
        </p:nvSpPr>
        <p:spPr>
          <a:xfrm>
            <a:off x="5321808" y="32004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KPIs, commission bucket, salary estimate and pay scheme.</a:t>
            </a:r>
            <a:endParaRPr lang="en-US" sz="1400" dirty="0"/>
          </a:p>
        </p:txBody>
      </p:sp>
      <p:sp>
        <p:nvSpPr>
          <p:cNvPr id="18" name="Card Hub"/>
          <p:cNvSpPr/>
          <p:nvPr/>
        </p:nvSpPr>
        <p:spPr>
          <a:xfrm>
            <a:off x="7296912" y="1554480"/>
            <a:ext cx="2103120" cy="32918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Hub circle"/>
          <p:cNvSpPr/>
          <p:nvPr/>
        </p:nvSpPr>
        <p:spPr>
          <a:xfrm>
            <a:off x="7571232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Hub icon" descr="Hu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252" y="1988820"/>
            <a:ext cx="320040" cy="320040"/>
          </a:xfrm>
          <a:prstGeom prst="rect">
            <a:avLst/>
          </a:prstGeom>
        </p:spPr>
      </p:pic>
      <p:sp>
        <p:nvSpPr>
          <p:cNvPr id="21" name="Tab Hub"/>
          <p:cNvSpPr txBox="1"/>
          <p:nvPr/>
        </p:nvSpPr>
        <p:spPr>
          <a:xfrm>
            <a:off x="7571232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</a:t>
            </a:r>
            <a:endParaRPr lang="en-US" sz="2000" dirty="0"/>
          </a:p>
        </p:txBody>
      </p:sp>
      <p:sp>
        <p:nvSpPr>
          <p:cNvPr id="22" name="Tab text Hub"/>
          <p:cNvSpPr txBox="1"/>
          <p:nvPr/>
        </p:nvSpPr>
        <p:spPr>
          <a:xfrm>
            <a:off x="7571232" y="32004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News, quick tools, events and newcomers.</a:t>
            </a:r>
            <a:endParaRPr lang="en-US" sz="1400" dirty="0"/>
          </a:p>
        </p:txBody>
      </p:sp>
      <p:sp>
        <p:nvSpPr>
          <p:cNvPr id="23" name="Card More"/>
          <p:cNvSpPr/>
          <p:nvPr/>
        </p:nvSpPr>
        <p:spPr>
          <a:xfrm>
            <a:off x="9546336" y="1554480"/>
            <a:ext cx="2103120" cy="32918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More circle"/>
          <p:cNvSpPr/>
          <p:nvPr/>
        </p:nvSpPr>
        <p:spPr>
          <a:xfrm>
            <a:off x="9820656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More icon" descr="Mo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0676" y="1988820"/>
            <a:ext cx="320040" cy="320040"/>
          </a:xfrm>
          <a:prstGeom prst="rect">
            <a:avLst/>
          </a:prstGeom>
        </p:spPr>
      </p:pic>
      <p:sp>
        <p:nvSpPr>
          <p:cNvPr id="26" name="Tab More"/>
          <p:cNvSpPr txBox="1"/>
          <p:nvPr/>
        </p:nvSpPr>
        <p:spPr>
          <a:xfrm>
            <a:off x="9820656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endParaRPr lang="en-US" sz="2000" dirty="0"/>
          </a:p>
        </p:txBody>
      </p:sp>
      <p:sp>
        <p:nvSpPr>
          <p:cNvPr id="27" name="Tab text More"/>
          <p:cNvSpPr txBox="1"/>
          <p:nvPr/>
        </p:nvSpPr>
        <p:spPr>
          <a:xfrm>
            <a:off x="9820656" y="32004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Profile, support, speak up and light or dark mode.</a:t>
            </a:r>
            <a:endParaRPr lang="en-US" sz="1400" dirty="0"/>
          </a:p>
        </p:txBody>
      </p:sp>
      <p:sp>
        <p:nvSpPr>
          <p:cNvPr id="28" name="Device band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1894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Device text"/>
          <p:cNvSpPr txBox="1"/>
          <p:nvPr/>
        </p:nvSpPr>
        <p:spPr>
          <a:xfrm>
            <a:off x="868680" y="5212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tabs, like the Etisalat Egypt app. Works on phone, tablet and desktop, with a demo-only notice on every page.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Your view as an Operations Manager</a:t>
            </a:r>
            <a:endParaRPr lang="en-US" sz="3600" dirty="0"/>
          </a:p>
        </p:txBody>
      </p:sp>
      <p:sp>
        <p:nvSpPr>
          <p:cNvPr id="3" name="Card Live operations"/>
          <p:cNvSpPr/>
          <p:nvPr/>
        </p:nvSpPr>
        <p:spPr>
          <a:xfrm>
            <a:off x="548640" y="1463040"/>
            <a:ext cx="6766560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Live operations circle"/>
          <p:cNvSpPr/>
          <p:nvPr/>
        </p:nvSpPr>
        <p:spPr>
          <a:xfrm>
            <a:off x="822960" y="180136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ive operations icon" descr="Live ope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84248"/>
            <a:ext cx="365760" cy="365760"/>
          </a:xfrm>
          <a:prstGeom prst="rect">
            <a:avLst/>
          </a:prstGeom>
        </p:spPr>
      </p:pic>
      <p:sp>
        <p:nvSpPr>
          <p:cNvPr id="6" name="Heading Live operations"/>
          <p:cNvSpPr txBox="1"/>
          <p:nvPr/>
        </p:nvSpPr>
        <p:spPr>
          <a:xfrm>
            <a:off x="1783080" y="16642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operations</a:t>
            </a:r>
            <a:endParaRPr lang="en-US" sz="2000" dirty="0"/>
          </a:p>
        </p:txBody>
      </p:sp>
      <p:sp>
        <p:nvSpPr>
          <p:cNvPr id="7" name="Text Live operations"/>
          <p:cNvSpPr txBox="1"/>
          <p:nvPr/>
        </p:nvSpPr>
        <p:spPr>
          <a:xfrm>
            <a:off x="1783080" y="2103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today and month to date against target, contact rate, attendance and agents on call.</a:t>
            </a:r>
            <a:endParaRPr lang="en-US" sz="1400" dirty="0"/>
          </a:p>
        </p:txBody>
      </p:sp>
      <p:sp>
        <p:nvSpPr>
          <p:cNvPr id="8" name="Card Team pace"/>
          <p:cNvSpPr/>
          <p:nvPr/>
        </p:nvSpPr>
        <p:spPr>
          <a:xfrm>
            <a:off x="548640" y="3063240"/>
            <a:ext cx="6766560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am pace circle"/>
          <p:cNvSpPr/>
          <p:nvPr/>
        </p:nvSpPr>
        <p:spPr>
          <a:xfrm>
            <a:off x="822960" y="340156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Team pace icon" descr="Team p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584448"/>
            <a:ext cx="365760" cy="365760"/>
          </a:xfrm>
          <a:prstGeom prst="rect">
            <a:avLst/>
          </a:prstGeom>
        </p:spPr>
      </p:pic>
      <p:sp>
        <p:nvSpPr>
          <p:cNvPr id="11" name="Heading Team pace"/>
          <p:cNvSpPr txBox="1"/>
          <p:nvPr/>
        </p:nvSpPr>
        <p:spPr>
          <a:xfrm>
            <a:off x="1783080" y="32644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pace</a:t>
            </a:r>
            <a:endParaRPr lang="en-US" sz="2000" dirty="0"/>
          </a:p>
        </p:txBody>
      </p:sp>
      <p:sp>
        <p:nvSpPr>
          <p:cNvPr id="12" name="Text Team pace"/>
          <p:cNvSpPr txBox="1"/>
          <p:nvPr/>
        </p:nvSpPr>
        <p:spPr>
          <a:xfrm>
            <a:off x="1783080" y="37033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team against where it should be by today’s date, so slipping teams show early.</a:t>
            </a:r>
            <a:endParaRPr lang="en-US" sz="1400" dirty="0"/>
          </a:p>
        </p:txBody>
      </p:sp>
      <p:sp>
        <p:nvSpPr>
          <p:cNvPr id="13" name="Card Escalations"/>
          <p:cNvSpPr/>
          <p:nvPr/>
        </p:nvSpPr>
        <p:spPr>
          <a:xfrm>
            <a:off x="548640" y="4663440"/>
            <a:ext cx="6766560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Escalations circle"/>
          <p:cNvSpPr/>
          <p:nvPr/>
        </p:nvSpPr>
        <p:spPr>
          <a:xfrm>
            <a:off x="822960" y="500176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Escalations icon" descr="Escala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184648"/>
            <a:ext cx="365760" cy="365760"/>
          </a:xfrm>
          <a:prstGeom prst="rect">
            <a:avLst/>
          </a:prstGeom>
        </p:spPr>
      </p:pic>
      <p:sp>
        <p:nvSpPr>
          <p:cNvPr id="16" name="Heading Escalations"/>
          <p:cNvSpPr txBox="1"/>
          <p:nvPr/>
        </p:nvSpPr>
        <p:spPr>
          <a:xfrm>
            <a:off x="1783080" y="48646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Escalations</a:t>
            </a:r>
            <a:endParaRPr lang="en-US" sz="2000" dirty="0"/>
          </a:p>
        </p:txBody>
      </p:sp>
      <p:sp>
        <p:nvSpPr>
          <p:cNvPr id="17" name="Text Escalations"/>
          <p:cNvSpPr txBox="1"/>
          <p:nvPr/>
        </p:nvSpPr>
        <p:spPr>
          <a:xfrm>
            <a:off x="1783080" y="5303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Overtime, long leave and headcount requests from Team Leaders, approved in one tap.</a:t>
            </a:r>
            <a:endParaRPr lang="en-US" sz="1400" dirty="0"/>
          </a:p>
        </p:txBody>
      </p:sp>
      <p:sp>
        <p:nvSpPr>
          <p:cNvPr id="18" name="Pace card"/>
          <p:cNvSpPr/>
          <p:nvPr/>
        </p:nvSpPr>
        <p:spPr>
          <a:xfrm>
            <a:off x="7680960" y="1463040"/>
            <a:ext cx="3931920" cy="4617720"/>
          </a:xfrm>
          <a:prstGeom prst="roundRect">
            <a:avLst>
              <a:gd name="adj" fmla="val 41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Pace heading"/>
          <p:cNvSpPr txBox="1"/>
          <p:nvPr/>
        </p:nvSpPr>
        <p:spPr>
          <a:xfrm>
            <a:off x="800100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status</a:t>
            </a:r>
            <a:endParaRPr lang="en-US" sz="2000" dirty="0"/>
          </a:p>
        </p:txBody>
      </p:sp>
      <p:sp>
        <p:nvSpPr>
          <p:cNvPr id="20" name="Pill On track"/>
          <p:cNvSpPr/>
          <p:nvPr/>
        </p:nvSpPr>
        <p:spPr>
          <a:xfrm>
            <a:off x="8001000" y="2377440"/>
            <a:ext cx="3291840" cy="960120"/>
          </a:xfrm>
          <a:prstGeom prst="roundRect">
            <a:avLst>
              <a:gd name="adj" fmla="val 152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Pill title On track"/>
          <p:cNvSpPr txBox="1"/>
          <p:nvPr/>
        </p:nvSpPr>
        <p:spPr>
          <a:xfrm>
            <a:off x="8229600" y="2487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800" dirty="0"/>
          </a:p>
        </p:txBody>
      </p:sp>
      <p:sp>
        <p:nvSpPr>
          <p:cNvPr id="22" name="Pill text On track"/>
          <p:cNvSpPr txBox="1"/>
          <p:nvPr/>
        </p:nvSpPr>
        <p:spPr>
          <a:xfrm>
            <a:off x="8229600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of plan or more</a:t>
            </a:r>
            <a:endParaRPr lang="en-US" sz="1400" dirty="0"/>
          </a:p>
        </p:txBody>
      </p:sp>
      <p:sp>
        <p:nvSpPr>
          <p:cNvPr id="23" name="Pill Watch"/>
          <p:cNvSpPr/>
          <p:nvPr/>
        </p:nvSpPr>
        <p:spPr>
          <a:xfrm>
            <a:off x="8001000" y="3566160"/>
            <a:ext cx="3291840" cy="960120"/>
          </a:xfrm>
          <a:prstGeom prst="roundRect">
            <a:avLst>
              <a:gd name="adj" fmla="val 152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Pill title Watch"/>
          <p:cNvSpPr txBox="1"/>
          <p:nvPr/>
        </p:nvSpPr>
        <p:spPr>
          <a:xfrm>
            <a:off x="8229600" y="3675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800" dirty="0"/>
          </a:p>
        </p:txBody>
      </p:sp>
      <p:sp>
        <p:nvSpPr>
          <p:cNvPr id="25" name="Pill text Watch"/>
          <p:cNvSpPr txBox="1"/>
          <p:nvPr/>
        </p:nvSpPr>
        <p:spPr>
          <a:xfrm>
            <a:off x="8229600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to 95% of plan</a:t>
            </a:r>
            <a:endParaRPr lang="en-US" sz="1400" dirty="0"/>
          </a:p>
        </p:txBody>
      </p:sp>
      <p:sp>
        <p:nvSpPr>
          <p:cNvPr id="26" name="Pill Behind"/>
          <p:cNvSpPr/>
          <p:nvPr/>
        </p:nvSpPr>
        <p:spPr>
          <a:xfrm>
            <a:off x="8001000" y="4754880"/>
            <a:ext cx="3291840" cy="960120"/>
          </a:xfrm>
          <a:prstGeom prst="roundRect">
            <a:avLst>
              <a:gd name="adj" fmla="val 1523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Pill title Behind"/>
          <p:cNvSpPr txBox="1"/>
          <p:nvPr/>
        </p:nvSpPr>
        <p:spPr>
          <a:xfrm>
            <a:off x="8229600" y="4864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</a:t>
            </a:r>
            <a:endParaRPr lang="en-US" sz="1800" dirty="0"/>
          </a:p>
        </p:txBody>
      </p:sp>
      <p:sp>
        <p:nvSpPr>
          <p:cNvPr id="28" name="Pill text Behind"/>
          <p:cNvSpPr txBox="1"/>
          <p:nvPr/>
        </p:nvSpPr>
        <p:spPr>
          <a:xfrm>
            <a:off x="8229600" y="5257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85% of plan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KPI and commission work</a:t>
            </a:r>
            <a:endParaRPr lang="en-US" sz="3600" dirty="0"/>
          </a:p>
        </p:txBody>
      </p:sp>
      <p:sp>
        <p:nvSpPr>
          <p:cNvPr id="3" name="Chart card"/>
          <p:cNvSpPr/>
          <p:nvPr/>
        </p:nvSpPr>
        <p:spPr>
          <a:xfrm>
            <a:off x="548640" y="1463040"/>
            <a:ext cx="5852160" cy="4617720"/>
          </a:xfrm>
          <a:prstGeom prst="roundRect">
            <a:avLst>
              <a:gd name="adj" fmla="val 35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731520" y="1645920"/>
          <a:ext cx="54864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 commission"/>
          <p:cNvSpPr/>
          <p:nvPr/>
        </p:nvSpPr>
        <p:spPr>
          <a:xfrm>
            <a:off x="6675120" y="1463040"/>
            <a:ext cx="4937760" cy="2148840"/>
          </a:xfrm>
          <a:prstGeom prst="roundRect">
            <a:avLst>
              <a:gd name="adj" fmla="val 766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tat commission"/>
          <p:cNvSpPr txBox="1"/>
          <p:nvPr/>
        </p:nvSpPr>
        <p:spPr>
          <a:xfrm>
            <a:off x="6995160" y="16916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EGP 200 to 5,500</a:t>
            </a:r>
            <a:endParaRPr lang="en-US" sz="3200" dirty="0"/>
          </a:p>
        </p:txBody>
      </p:sp>
      <p:sp>
        <p:nvSpPr>
          <p:cNvPr id="7" name="Stat commission text"/>
          <p:cNvSpPr txBox="1"/>
          <p:nvPr/>
        </p:nvSpPr>
        <p:spPr>
          <a:xfrm>
            <a:off x="6995160" y="24688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by monthly collection bucket, from AED 20,000 up to AED 50,001 and above.</a:t>
            </a:r>
            <a:endParaRPr lang="en-US" sz="1400" dirty="0"/>
          </a:p>
        </p:txBody>
      </p:sp>
      <p:sp>
        <p:nvSpPr>
          <p:cNvPr id="8" name="Stat card gatekeeper"/>
          <p:cNvSpPr/>
          <p:nvPr/>
        </p:nvSpPr>
        <p:spPr>
          <a:xfrm>
            <a:off x="6675120" y="3840480"/>
            <a:ext cx="4937760" cy="224028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tat tardiness"/>
          <p:cNvSpPr txBox="1"/>
          <p:nvPr/>
        </p:nvSpPr>
        <p:spPr>
          <a:xfrm>
            <a:off x="6995160" y="40690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 pts and -5%</a:t>
            </a:r>
            <a:endParaRPr lang="en-US" sz="3200" dirty="0"/>
          </a:p>
        </p:txBody>
      </p:sp>
      <p:sp>
        <p:nvSpPr>
          <p:cNvPr id="10" name="Stat tardiness text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lateness passes 10 minutes in a month. One AED to EGP rate, editable by admins only.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pay scheme for every position</a:t>
            </a:r>
            <a:endParaRPr lang="en-US" sz="3600" dirty="0"/>
          </a:p>
        </p:txBody>
      </p:sp>
      <p:graphicFrame>
        <p:nvGraphicFramePr>
          <p:cNvPr id="8" name="Pay schem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292608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per month (EGP)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pay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 to 4,800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 buckets + KPI variable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Senior Agent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4,800 to 6,200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 buckets + KPI variable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 to 9,500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achievement bonus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Manager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14,000 to 19,000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 bonus by pace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Manager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13,000 to 18,000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Bonus by client SLA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Senior Manager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24,000 to 32,000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bonus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Specialist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6,000 to 8,500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variable only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Support Engineer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 to 10,500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variable only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Pay scheme note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figures only. Each position also shows car allowance, COLA at 40% of basic, deductions and an example month in the app.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Where we are and what we need</a:t>
            </a:r>
            <a:endParaRPr lang="en-US" sz="3600" dirty="0"/>
          </a:p>
        </p:txBody>
      </p:sp>
      <p:sp>
        <p:nvSpPr>
          <p:cNvPr id="3" name="Panel Today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512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Panel title Today"/>
          <p:cNvSpPr txBox="1"/>
          <p:nvPr/>
        </p:nvSpPr>
        <p:spPr>
          <a:xfrm>
            <a:off x="91440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400" dirty="0"/>
          </a:p>
        </p:txBody>
      </p:sp>
      <p:sp>
        <p:nvSpPr>
          <p:cNvPr id="5" name="Panel text Today"/>
          <p:cNvSpPr txBox="1"/>
          <p:nvPr/>
        </p:nvSpPr>
        <p:spPr>
          <a:xfrm>
            <a:off x="914400" y="256032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Working prototype with demo data.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Access by position and a locked exchange rate.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Runs on phone, tablet and desktop.</a:t>
            </a:r>
            <a:endParaRPr lang="en-US" sz="1600" dirty="0"/>
          </a:p>
        </p:txBody>
      </p:sp>
      <p:sp>
        <p:nvSpPr>
          <p:cNvPr id="6" name="Panel To go live"/>
          <p:cNvSpPr/>
          <p:nvPr/>
        </p:nvSpPr>
        <p:spPr>
          <a:xfrm>
            <a:off x="4297680" y="1554480"/>
            <a:ext cx="3566160" cy="4206240"/>
          </a:xfrm>
          <a:prstGeom prst="roundRect">
            <a:avLst>
              <a:gd name="adj" fmla="val 512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Panel title To go live"/>
          <p:cNvSpPr txBox="1"/>
          <p:nvPr/>
        </p:nvSpPr>
        <p:spPr>
          <a:xfrm>
            <a:off x="466344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go live</a:t>
            </a:r>
            <a:endParaRPr lang="en-US" sz="2400" dirty="0"/>
          </a:p>
        </p:txBody>
      </p:sp>
      <p:sp>
        <p:nvSpPr>
          <p:cNvPr id="8" name="Panel text To go live"/>
          <p:cNvSpPr txBox="1"/>
          <p:nvPr/>
        </p:nvSpPr>
        <p:spPr>
          <a:xfrm>
            <a:off x="4663440" y="256032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Company sign-in and a real database.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Links to attendance, KPI and payroll sources.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IT and information security approval, then a pilot.</a:t>
            </a:r>
            <a:endParaRPr lang="en-US" sz="1600" dirty="0"/>
          </a:p>
        </p:txBody>
      </p:sp>
      <p:sp>
        <p:nvSpPr>
          <p:cNvPr id="9" name="Panel Your input"/>
          <p:cNvSpPr/>
          <p:nvPr/>
        </p:nvSpPr>
        <p:spPr>
          <a:xfrm>
            <a:off x="8046720" y="1554480"/>
            <a:ext cx="3566160" cy="4206240"/>
          </a:xfrm>
          <a:prstGeom prst="roundRect">
            <a:avLst>
              <a:gd name="adj" fmla="val 512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anel title Your input"/>
          <p:cNvSpPr txBox="1"/>
          <p:nvPr/>
        </p:nvSpPr>
        <p:spPr>
          <a:xfrm>
            <a:off x="841248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input</a:t>
            </a:r>
            <a:endParaRPr lang="en-US" sz="2400" dirty="0"/>
          </a:p>
        </p:txBody>
      </p:sp>
      <p:sp>
        <p:nvSpPr>
          <p:cNvPr id="11" name="Panel text Your input"/>
          <p:cNvSpPr txBox="1"/>
          <p:nvPr/>
        </p:nvSpPr>
        <p:spPr>
          <a:xfrm>
            <a:off x="8412480" y="256032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Does this cover your daily needs?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What is missing for operations?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Which teams should pilot first?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tisalat CX">
  <a:themeElements>
    <a:clrScheme name="Etisalat CX">
      <a:dk1>
        <a:srgbClr val="1C0F0D"/>
      </a:dk1>
      <a:lt1>
        <a:srgbClr val="FFFFFF"/>
      </a:lt1>
      <a:dk2>
        <a:srgbClr val="6B5F5B"/>
      </a:dk2>
      <a:lt2>
        <a:srgbClr val="F3F3F5"/>
      </a:lt2>
      <a:accent1>
        <a:srgbClr val="E00800"/>
      </a:accent1>
      <a:accent2>
        <a:srgbClr val="8A0006"/>
      </a:accent2>
      <a:accent3>
        <a:srgbClr val="1B7A49"/>
      </a:accent3>
      <a:accent4>
        <a:srgbClr val="2A5D9F"/>
      </a:accent4>
      <a:accent5>
        <a:srgbClr val="A85F00"/>
      </a:accent5>
      <a:accent6>
        <a:srgbClr val="FDE9EA"/>
      </a:accent6>
      <a:hlink>
        <a:srgbClr val="E00800"/>
      </a:hlink>
      <a:folHlink>
        <a:srgbClr val="8A0006"/>
      </a:folHlink>
    </a:clrScheme>
    <a:fontScheme name="Etisalat CX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Etisalat CX Solutions Employee Portal: Operations Managers Briefing</dc:title>
  <dc:subject>PptxGenJS Presentation</dc:subject>
  <dc:creator>Etisalat CX Solutions</dc:creator>
  <cp:lastModifiedBy>Etisalat CX Solutions</cp:lastModifiedBy>
  <cp:revision>1</cp:revision>
  <dcterms:created xsi:type="dcterms:W3CDTF">2026-10-26T18:41:39Z</dcterms:created>
  <dcterms:modified xsi:type="dcterms:W3CDTF">2026-10-26T18:41:39Z</dcterms:modified>
</cp:coreProperties>
</file>